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9" r:id="rId13"/>
    <p:sldId id="280" r:id="rId14"/>
    <p:sldId id="281" r:id="rId15"/>
    <p:sldId id="282" r:id="rId16"/>
    <p:sldId id="283" r:id="rId17"/>
    <p:sldId id="285" r:id="rId18"/>
    <p:sldId id="286" r:id="rId19"/>
    <p:sldId id="287" r:id="rId20"/>
  </p:sldIdLst>
  <p:sldSz cx="14630400" cy="8229600"/>
  <p:notesSz cx="8229600" cy="14630400"/>
  <p:embeddedFontLst>
    <p:embeddedFont>
      <p:font typeface="Bitter Medium" panose="020B0604020202020204" charset="0"/>
      <p:regular r:id="rId22"/>
    </p:embeddedFont>
    <p:embeddedFont>
      <p:font typeface="Open Sans" panose="020B0606030504020204" pitchFamily="3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2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737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0.svg"/><Relationship Id="rId4" Type="http://schemas.openxmlformats.org/officeDocument/2006/relationships/image" Target="../media/image36.svg"/><Relationship Id="rId9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hyperlink" Target="Myntra%20Fasion%20Clothing.cs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Myntra Fashion Data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trends and customer preferences through data-driven insights from 526,000+ fashion products</a:t>
            </a:r>
            <a:endParaRPr lang="en-US" sz="175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AA9FA9-EE0C-6F0A-C0B9-3A854E9F591D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093" y="433864"/>
            <a:ext cx="3944183" cy="49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The Challenge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34340" y="1321237"/>
            <a:ext cx="208978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34923" y="1725454"/>
            <a:ext cx="5179576" cy="2869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E-commerce companies struggle to understand customer preferences and identify popular products due to massive data volumes. Proper analysis is needed to uncover trends and drive growth</a:t>
            </a: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399" y="274320"/>
            <a:ext cx="8300561" cy="74866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B8D745-F5D3-4304-8088-D150CDF1D839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63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0879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23027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2950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Analyze Product Data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44090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Study Myntra's fashion product dataset to identify key patterns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180879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2230279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2950488"/>
            <a:ext cx="32958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Price &amp; Discount Insights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34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Examine relationships between pricing, discounts, and customer ratings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180879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2230279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2950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Brand Performance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34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popular brands and product categories across segments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990862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28224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15390" y="541234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8224" y="6132552"/>
            <a:ext cx="29462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Customer Preferences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8224" y="6622971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 fashion choices based on gender and demographics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990862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62982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50148" y="5412343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62982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Business Intelligence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62982" y="662297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actionable insights for strategic decision-making</a:t>
            </a:r>
            <a:endParaRPr lang="en-US" sz="175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93F8627-3120-3703-D1C4-2B224D139567}"/>
              </a:ext>
            </a:extLst>
          </p:cNvPr>
          <p:cNvSpPr/>
          <p:nvPr/>
        </p:nvSpPr>
        <p:spPr>
          <a:xfrm>
            <a:off x="12687300" y="778383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377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00005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526K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80716" y="39318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Total Products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422219"/>
            <a:ext cx="36364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Fashion items analyzed across all categories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0084" y="2900005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13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600730" y="39318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0084" y="4422219"/>
            <a:ext cx="36365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points per product record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540317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Myntra Fashion Clothing Dataset includes Product ID, Brand Name, Category, Gender, Original Price, Discounted Price, Discount Percentage, Available Sizes, Product Rating, and Number of Reviews.</a:t>
            </a:r>
            <a:endParaRPr lang="en-US" sz="175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2A4076-D219-8F8D-AEF8-ABE590C4725B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5065633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Our Methodology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4764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Collection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24764" y="2236113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 the comprehensive Myntra dataset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4764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Cleaning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24764" y="3451860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 missing values and duplicate records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24764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Preprocessing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24764" y="4667607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price, discount, and rating values into proper formats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24764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Exploratory Analysis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24764" y="5883354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brands, categories, pricing, and rating patterns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24764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Insight Generation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924764" y="7099102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 actionable business and customer behavior insights</a:t>
            </a:r>
            <a:endParaRPr lang="en-US" sz="155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BDC9EC-97F3-007C-9F70-6A069856C1CB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50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Findings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0743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8F0"/>
          </a:solidFill>
          <a:ln w="30480">
            <a:solidFill>
              <a:srgbClr val="E1E1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30743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1E1DF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564725"/>
            <a:ext cx="33667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Men's Fashion Dominates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055144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Men's fashion products are the most common category in the dataset, representing the largest segment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30743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8F0"/>
          </a:solidFill>
          <a:ln w="30480">
            <a:solidFill>
              <a:srgbClr val="E1E1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230743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1E1DF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2564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Brand Concentration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055144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Certain brands have significantly more products and customer reviews, indicating market leaders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30743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8F0"/>
          </a:solidFill>
          <a:ln w="30480">
            <a:solidFill>
              <a:srgbClr val="E1E1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230743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1E1DF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2564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Sweet Spot Pricing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05514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Medium-priced products receive the most customer attention and engagement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990862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8F0"/>
          </a:solidFill>
          <a:ln w="30480">
            <a:solidFill>
              <a:srgbClr val="E1E1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310" y="4990862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E1E1D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2524" y="5248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Discount Impact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2524" y="573857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Discounts strongly influence customer interest and purchase decisions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990862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8F0"/>
          </a:solidFill>
          <a:ln w="30480">
            <a:solidFill>
              <a:srgbClr val="E1E1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6482" y="4990862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E1E1DF"/>
          </a:solidFill>
          <a:ln/>
        </p:spPr>
      </p:sp>
      <p:sp>
        <p:nvSpPr>
          <p:cNvPr id="21" name="Text 19"/>
          <p:cNvSpPr/>
          <p:nvPr/>
        </p:nvSpPr>
        <p:spPr>
          <a:xfrm>
            <a:off x="5565696" y="5248156"/>
            <a:ext cx="31664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Size Availability Matters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5696" y="573857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 available in more sizes consistently perform better in sales and ratings</a:t>
            </a:r>
            <a:endParaRPr lang="en-US" sz="175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4CF3617-47B0-B178-BBF3-489B45E480F7}"/>
              </a:ext>
            </a:extLst>
          </p:cNvPr>
          <p:cNvSpPr/>
          <p:nvPr/>
        </p:nvSpPr>
        <p:spPr>
          <a:xfrm>
            <a:off x="12687300" y="777240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8585"/>
            <a:ext cx="58314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Business Applications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22099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071455"/>
            <a:ext cx="36116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Product Recommendations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561874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intelligent recommendation systems based on customer behavior patterns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220992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Sales Analysis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5618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Conduct comprehensive business and sales performance analysis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220992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Customer Insights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5618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 and predict customer preference patterns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104209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954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Pricing Strategy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44509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 pricing and discount planning for maximum impact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5104209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954673"/>
            <a:ext cx="31211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Inventory Management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44509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stock planning and inventory optimization</a:t>
            </a:r>
            <a:endParaRPr lang="en-US" sz="175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210E25D-7E51-D425-67F6-B98419C875DC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6987064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Limitations &amp; Considerations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1638" y="1862078"/>
            <a:ext cx="102989" cy="102989"/>
          </a:xfrm>
          <a:prstGeom prst="roundRect">
            <a:avLst>
              <a:gd name="adj" fmla="val 443931"/>
            </a:avLst>
          </a:prstGeom>
          <a:solidFill>
            <a:srgbClr val="D2600F"/>
          </a:solidFill>
          <a:ln/>
        </p:spPr>
      </p:sp>
      <p:sp>
        <p:nvSpPr>
          <p:cNvPr id="4" name="Text 2"/>
          <p:cNvSpPr/>
          <p:nvPr/>
        </p:nvSpPr>
        <p:spPr>
          <a:xfrm>
            <a:off x="1030724" y="1752481"/>
            <a:ext cx="2640687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 Demographic Data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30724" y="2280761"/>
            <a:ext cx="6033016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lacks customer personal and demographic information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1638" y="3462516"/>
            <a:ext cx="102989" cy="102989"/>
          </a:xfrm>
          <a:prstGeom prst="roundRect">
            <a:avLst>
              <a:gd name="adj" fmla="val 443931"/>
            </a:avLst>
          </a:prstGeom>
          <a:solidFill>
            <a:srgbClr val="D2600F"/>
          </a:solidFill>
          <a:ln/>
        </p:spPr>
      </p:sp>
      <p:sp>
        <p:nvSpPr>
          <p:cNvPr id="7" name="Text 5"/>
          <p:cNvSpPr/>
          <p:nvPr/>
        </p:nvSpPr>
        <p:spPr>
          <a:xfrm>
            <a:off x="1030724" y="3352919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Rating Limitations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30724" y="3881199"/>
            <a:ext cx="6033016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Ratings don't fully capture complete customer opinions and experiences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1638" y="5062954"/>
            <a:ext cx="102989" cy="102989"/>
          </a:xfrm>
          <a:prstGeom prst="roundRect">
            <a:avLst>
              <a:gd name="adj" fmla="val 443931"/>
            </a:avLst>
          </a:prstGeom>
          <a:solidFill>
            <a:srgbClr val="D2600F"/>
          </a:solidFill>
          <a:ln/>
        </p:spPr>
      </p:sp>
      <p:sp>
        <p:nvSpPr>
          <p:cNvPr id="10" name="Text 8"/>
          <p:cNvSpPr/>
          <p:nvPr/>
        </p:nvSpPr>
        <p:spPr>
          <a:xfrm>
            <a:off x="1030724" y="4953357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Static Dataset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30724" y="5481638"/>
            <a:ext cx="6033016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is not updated in real-time, limiting current trend analysis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45285D-1347-F7E8-1F53-186748D7740D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79" y="560308"/>
            <a:ext cx="5080873" cy="63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Opportunities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03770" y="1601629"/>
            <a:ext cx="22860" cy="6067663"/>
          </a:xfrm>
          <a:prstGeom prst="roundRect">
            <a:avLst>
              <a:gd name="adj" fmla="val 373402"/>
            </a:avLst>
          </a:prstGeom>
          <a:solidFill>
            <a:srgbClr val="E2C8B5"/>
          </a:solidFill>
          <a:ln/>
        </p:spPr>
      </p:sp>
      <p:sp>
        <p:nvSpPr>
          <p:cNvPr id="4" name="Shape 2"/>
          <p:cNvSpPr/>
          <p:nvPr/>
        </p:nvSpPr>
        <p:spPr>
          <a:xfrm>
            <a:off x="6499860" y="1818799"/>
            <a:ext cx="609600" cy="22860"/>
          </a:xfrm>
          <a:prstGeom prst="roundRect">
            <a:avLst>
              <a:gd name="adj" fmla="val 373402"/>
            </a:avLst>
          </a:prstGeom>
          <a:solidFill>
            <a:srgbClr val="E2C8B5"/>
          </a:solidFill>
          <a:ln/>
        </p:spPr>
      </p:sp>
      <p:sp>
        <p:nvSpPr>
          <p:cNvPr id="5" name="Shape 3"/>
          <p:cNvSpPr/>
          <p:nvPr/>
        </p:nvSpPr>
        <p:spPr>
          <a:xfrm>
            <a:off x="7086600" y="1601629"/>
            <a:ext cx="457200" cy="457200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2800" y="1639729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34740" y="1671399"/>
            <a:ext cx="26643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ML Recommendations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1279" y="2110859"/>
            <a:ext cx="558784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advanced recommendation systems using machine learning algorithms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20940" y="3037999"/>
            <a:ext cx="609600" cy="22860"/>
          </a:xfrm>
          <a:prstGeom prst="roundRect">
            <a:avLst>
              <a:gd name="adj" fmla="val 373402"/>
            </a:avLst>
          </a:prstGeom>
          <a:solidFill>
            <a:srgbClr val="E2C8B5"/>
          </a:solidFill>
          <a:ln/>
        </p:spPr>
      </p:sp>
      <p:sp>
        <p:nvSpPr>
          <p:cNvPr id="10" name="Shape 8"/>
          <p:cNvSpPr/>
          <p:nvPr/>
        </p:nvSpPr>
        <p:spPr>
          <a:xfrm>
            <a:off x="7086600" y="2820829"/>
            <a:ext cx="457200" cy="457200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2800" y="2858929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31279" y="2890599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Sentiment Analysis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31279" y="3330059"/>
            <a:ext cx="558784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 deep sentiment analysis on customer reviews and feedback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9860" y="4088963"/>
            <a:ext cx="609600" cy="22860"/>
          </a:xfrm>
          <a:prstGeom prst="roundRect">
            <a:avLst>
              <a:gd name="adj" fmla="val 373402"/>
            </a:avLst>
          </a:prstGeom>
          <a:solidFill>
            <a:srgbClr val="E2C8B5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3871793"/>
            <a:ext cx="457200" cy="457200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2800" y="3909893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58684" y="3941564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Demand Prediction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279" y="4381024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ML to predict product demand and customer ratings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20940" y="5139928"/>
            <a:ext cx="609600" cy="22860"/>
          </a:xfrm>
          <a:prstGeom prst="roundRect">
            <a:avLst>
              <a:gd name="adj" fmla="val 373402"/>
            </a:avLst>
          </a:prstGeom>
          <a:solidFill>
            <a:srgbClr val="E2C8B5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6600" y="4922758"/>
            <a:ext cx="457200" cy="457200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2800" y="4960858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31279" y="4992529"/>
            <a:ext cx="275605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Interactive Dashboards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31279" y="5431988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real-time dashboards using Power BI or Tableau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9860" y="6190893"/>
            <a:ext cx="609600" cy="22860"/>
          </a:xfrm>
          <a:prstGeom prst="roundRect">
            <a:avLst>
              <a:gd name="adj" fmla="val 373402"/>
            </a:avLst>
          </a:prstGeom>
          <a:solidFill>
            <a:srgbClr val="E2C8B5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6600" y="5973723"/>
            <a:ext cx="457200" cy="457200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62800" y="6011823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758684" y="6043493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Live Data Collection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1279" y="6482953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web scraping for continuous data updates</a:t>
            </a:r>
            <a:endParaRPr lang="en-US" sz="16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EE9381C-E30C-66AE-8E73-D6FAE67A3594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373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133951" y="3241477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analysis is transforming the fashion e-commerce industry. By studying Myntra's product data, we uncovered critical patterns in pricing, discounts, and customer preferences.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986326"/>
            <a:ext cx="30480" cy="1599009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840486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insights empower companies to enhance product planning, boost customer satisfaction, and accelerate sales growth. This project establishes a foundation for advanced machine learning applications and intelligent recommendation systems.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Cleaning &amp; Analysis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comprehensive guide to cleaning, analyzing, and retrieving product data using Excel functions and best practices.</a:t>
            </a:r>
            <a:endParaRPr lang="en-US" sz="175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01C2936-BEC6-226F-F5FF-989F0CFF6B66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180" y="3540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9217" y="79956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325517" y="1174194"/>
            <a:ext cx="4196358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325517" y="1252060"/>
            <a:ext cx="37280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Cleaning &amp; Preparation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5517" y="1793200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 duplicates, standardize formats, and handle missing values to ensure data quality.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155757" y="221547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155757" y="2679690"/>
            <a:ext cx="4196358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9" name="Text 7"/>
          <p:cNvSpPr/>
          <p:nvPr/>
        </p:nvSpPr>
        <p:spPr>
          <a:xfrm>
            <a:off x="7235529" y="27576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Analysis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55757" y="318997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 patterns and trends through calculations and categorization.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541907" y="508737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21379" y="5665697"/>
            <a:ext cx="4196358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3" name="Text 11"/>
          <p:cNvSpPr/>
          <p:nvPr/>
        </p:nvSpPr>
        <p:spPr>
          <a:xfrm>
            <a:off x="9541907" y="5696177"/>
            <a:ext cx="31453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Retrieval &amp; Lookup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521379" y="6285855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 Excel functions to efficiently find and extract specific product information.</a:t>
            </a:r>
            <a:endParaRPr lang="en-US" sz="17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AD39816-B52A-E373-F1C4-E9A04CBBDF2D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WhatsApp Image 2025-12-23 at 16.04.59">
            <a:extLst>
              <a:ext uri="{FF2B5EF4-FFF2-40B4-BE49-F238E27FC236}">
                <a16:creationId xmlns:a16="http://schemas.microsoft.com/office/drawing/2014/main" id="{534D6342-8A79-9350-EB12-084465238A1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926929"/>
            <a:ext cx="4457999" cy="4247157"/>
          </a:xfrm>
          <a:prstGeom prst="rect">
            <a:avLst/>
          </a:prstGeom>
        </p:spPr>
      </p:pic>
      <p:sp>
        <p:nvSpPr>
          <p:cNvPr id="21" name="Arrow: Down 20">
            <a:extLst>
              <a:ext uri="{FF2B5EF4-FFF2-40B4-BE49-F238E27FC236}">
                <a16:creationId xmlns:a16="http://schemas.microsoft.com/office/drawing/2014/main" id="{C08D9AEE-8234-6040-7EA5-688A2E061E88}"/>
              </a:ext>
            </a:extLst>
          </p:cNvPr>
          <p:cNvSpPr/>
          <p:nvPr/>
        </p:nvSpPr>
        <p:spPr>
          <a:xfrm>
            <a:off x="1814551" y="3052199"/>
            <a:ext cx="505888" cy="70444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27427"/>
            <a:ext cx="74591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Cleaning &amp; Preparation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 raw data into a reliable foundation for analysis through systematic cleaning processes.</a:t>
            </a:r>
            <a:endParaRPr lang="en-US" sz="175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DFE41A-0B22-C497-A38F-4DDB02BB8476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5007"/>
            <a:ext cx="32202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Essential Cleaning Steps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93790" y="1812965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0473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234446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29546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Remove Duplicates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44507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the dataset for repeated rows and delete them so each product appears only once.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812965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0473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2234446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2954655"/>
            <a:ext cx="29745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Standardize Discounts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445073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all discount values into one common format (all in percentage).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632127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48665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390" y="505360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773817"/>
            <a:ext cx="29198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Handle Missing Prices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264235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Fill missing DiscountPrice using the average discount price of that product's category.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632127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48665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5053608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7738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Fix Size Options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264235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 all empty values in the SizeOption column with "Not Available".</a:t>
            </a:r>
            <a:endParaRPr lang="en-US" sz="175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2F58030-3D75-3F15-91A1-67A6910860A4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0">
            <a:extLst>
              <a:ext uri="{FF2B5EF4-FFF2-40B4-BE49-F238E27FC236}">
                <a16:creationId xmlns:a16="http://schemas.microsoft.com/office/drawing/2014/main" id="{AB7D103B-DB27-B09B-FCA8-5D7103716874}"/>
              </a:ext>
            </a:extLst>
          </p:cNvPr>
          <p:cNvSpPr/>
          <p:nvPr/>
        </p:nvSpPr>
        <p:spPr>
          <a:xfrm>
            <a:off x="8521161" y="617398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793790" y="8926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Analytical Tasks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7778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28203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2855714"/>
            <a:ext cx="292322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Average Original Price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3791188"/>
            <a:ext cx="292322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Calculate the average original price of products with ratings greater than 4.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737616" y="27778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2686" y="28203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474732" y="2855714"/>
            <a:ext cx="29233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High-Discount Products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74732" y="3803154"/>
            <a:ext cx="29233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 how many products have a discount offer greater than 50%.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3352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8860" y="53760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50"/>
              </a:lnSpc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650" dirty="0"/>
          </a:p>
          <a:p>
            <a:pPr algn="ctr">
              <a:lnSpc>
                <a:spcPts val="2650"/>
              </a:lnSpc>
            </a:pP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530906" y="5411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Size M Availability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30906" y="5992535"/>
            <a:ext cx="6867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 the total number of products available in size "M".</a:t>
            </a:r>
            <a:endParaRPr lang="en-US" sz="175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5DD8B6-9EEB-FA26-4E13-8FF3D2E785E4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CDE1C4-3095-0566-EB2E-4EC32F4F2932}"/>
              </a:ext>
            </a:extLst>
          </p:cNvPr>
          <p:cNvSpPr txBox="1"/>
          <p:nvPr/>
        </p:nvSpPr>
        <p:spPr>
          <a:xfrm>
            <a:off x="8703733" y="6680516"/>
            <a:ext cx="57001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=COUNTIF(Table1[Size Option], "*M*") NOW, IN THIS FORMULA, THERE’S A SLIGHT CHANGE. HERE I’VE WRITTEN “*M*” , NOW IN RESULTS, IT’LL ALSO SHOW THE NUMBER OF PRODUCTS AVAILABLE IN OTHER SIZES WITH “M” SIZE (</a:t>
            </a:r>
            <a:r>
              <a:rPr lang="en-US" dirty="0" err="1"/>
              <a:t>i.e</a:t>
            </a:r>
            <a:r>
              <a:rPr lang="en-US" dirty="0"/>
              <a:t> 308460)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0A88D5-4CE1-611C-A453-9896BE6BE51B}"/>
              </a:ext>
            </a:extLst>
          </p:cNvPr>
          <p:cNvSpPr txBox="1"/>
          <p:nvPr/>
        </p:nvSpPr>
        <p:spPr>
          <a:xfrm>
            <a:off x="5118712" y="6188821"/>
            <a:ext cx="7315200" cy="413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26168"/>
            <a:ext cx="38456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Creating Discount Categories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420660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6474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Add New Column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3137892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 column named "Discount Type"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781544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008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Apply Logic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49877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discount &gt; 50% → High Discount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142428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3692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Label Results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585966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Otherwise → Low Discount</a:t>
            </a:r>
            <a:endParaRPr lang="en-US" sz="17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971CE1E-F48D-EC73-A071-5E43202F53B2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403" y="590312"/>
            <a:ext cx="268366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VLOOKUP Function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51403" y="1462326"/>
            <a:ext cx="3220403" cy="402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Find Product Details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1403" y="2079546"/>
            <a:ext cx="6301978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VLOOKUP or XLOOKUP to retrieve brand name, price, and rating for </a:t>
            </a:r>
            <a:r>
              <a:rPr lang="en-US" sz="16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ID 11226634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51403" y="3007757"/>
            <a:ext cx="6301978" cy="1598771"/>
          </a:xfrm>
          <a:prstGeom prst="roundRect">
            <a:avLst>
              <a:gd name="adj" fmla="val 5640"/>
            </a:avLst>
          </a:prstGeom>
          <a:solidFill>
            <a:srgbClr val="FAD3B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73" y="3339584"/>
            <a:ext cx="268367" cy="2146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9110" y="3276005"/>
            <a:ext cx="5389602" cy="103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VLOOKUP searches vertically through the first column to find matching values and returns data from specified columns.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638" y="1489115"/>
            <a:ext cx="6301978" cy="630197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C38BC3-5D06-07FF-1467-8F134111C84E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Screenshot 2025-12-24 151041">
            <a:extLst>
              <a:ext uri="{FF2B5EF4-FFF2-40B4-BE49-F238E27FC236}">
                <a16:creationId xmlns:a16="http://schemas.microsoft.com/office/drawing/2014/main" id="{C977A70E-B791-C86D-CA75-90265BC53FE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5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91133"/>
            <a:ext cx="7338952" cy="16915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66844"/>
            <a:ext cx="39318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Advanced Lookup Techniques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200" dirty="0">
              <a:solidFill>
                <a:srgbClr val="2C3F42"/>
              </a:solidFill>
              <a:latin typeface="Bitter Medium" pitchFamily="34" charset="0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</a:rPr>
              <a:t>Formulas :-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</a:rPr>
              <a:t> Index&amp; Match :- =INDEX(Table1{Discount Price(in Rs)},MATCH(6744434,Table1{</a:t>
            </a:r>
            <a:r>
              <a:rPr lang="en-US" sz="2200" dirty="0" err="1">
                <a:solidFill>
                  <a:srgbClr val="2C3F42"/>
                </a:solidFill>
                <a:latin typeface="Bitter Medium" pitchFamily="34" charset="0"/>
              </a:rPr>
              <a:t>Product_id</a:t>
            </a:r>
            <a:r>
              <a:rPr lang="en-US" sz="2200" dirty="0">
                <a:solidFill>
                  <a:srgbClr val="2C3F42"/>
                </a:solidFill>
                <a:latin typeface="Bitter Medium" pitchFamily="34" charset="0"/>
              </a:rPr>
              <a:t>},0))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93790" y="2842498"/>
            <a:ext cx="6407944" cy="3352443"/>
          </a:xfrm>
          <a:prstGeom prst="roundRect">
            <a:avLst>
              <a:gd name="adj" fmla="val 2842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10" y="2872978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FCE2CF"/>
          </a:solidFill>
          <a:ln/>
        </p:spPr>
      </p:sp>
      <p:sp>
        <p:nvSpPr>
          <p:cNvPr id="5" name="Text 3"/>
          <p:cNvSpPr/>
          <p:nvPr/>
        </p:nvSpPr>
        <p:spPr>
          <a:xfrm>
            <a:off x="3827621" y="299668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780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INDEX &amp; MATCH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27065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INDEX and MATCH functions together to find the DiscountPrice for </a:t>
            </a: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ID 6744434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51084" y="513254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More flexible than VLOOKUP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51084" y="5574744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 search in any direction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2842498"/>
            <a:ext cx="6408063" cy="3352443"/>
          </a:xfrm>
          <a:prstGeom prst="roundRect">
            <a:avLst>
              <a:gd name="adj" fmla="val 2842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9027" y="2872978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FCE2CF"/>
          </a:solidFill>
          <a:ln/>
        </p:spPr>
      </p:sp>
      <p:sp>
        <p:nvSpPr>
          <p:cNvPr id="12" name="Text 10"/>
          <p:cNvSpPr/>
          <p:nvPr/>
        </p:nvSpPr>
        <p:spPr>
          <a:xfrm>
            <a:off x="10462498" y="299668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685842" y="3780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Nested XLOOKUP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4270653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nested XLOOKUP to retrieve any required detail of a product using its Product ID.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85842" y="513254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Combines multiple lookups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685842" y="5574744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Handles complex data structures</a:t>
            </a:r>
            <a:endParaRPr lang="en-US" sz="175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3C30555-C965-ACCF-602D-AEAF7B591AF1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 descr="Screenshot 2025-12-24 151544">
            <a:extLst>
              <a:ext uri="{FF2B5EF4-FFF2-40B4-BE49-F238E27FC236}">
                <a16:creationId xmlns:a16="http://schemas.microsoft.com/office/drawing/2014/main" id="{9AC68A9E-93B4-79B5-3A44-9C7D8126E20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84" y="7039929"/>
            <a:ext cx="4850952" cy="1189671"/>
          </a:xfrm>
          <a:prstGeom prst="rect">
            <a:avLst/>
          </a:prstGeom>
        </p:spPr>
      </p:pic>
      <p:sp>
        <p:nvSpPr>
          <p:cNvPr id="19" name="Arrow: Down 18">
            <a:extLst>
              <a:ext uri="{FF2B5EF4-FFF2-40B4-BE49-F238E27FC236}">
                <a16:creationId xmlns:a16="http://schemas.microsoft.com/office/drawing/2014/main" id="{05206BDF-8DA4-8BD4-F229-E07544AA5F75}"/>
              </a:ext>
            </a:extLst>
          </p:cNvPr>
          <p:cNvSpPr/>
          <p:nvPr/>
        </p:nvSpPr>
        <p:spPr>
          <a:xfrm>
            <a:off x="3028208" y="6283511"/>
            <a:ext cx="522514" cy="674755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Screenshot 2025-12-24 153828">
            <a:extLst>
              <a:ext uri="{FF2B5EF4-FFF2-40B4-BE49-F238E27FC236}">
                <a16:creationId xmlns:a16="http://schemas.microsoft.com/office/drawing/2014/main" id="{E6790C27-0F1D-9E6A-73A3-092A5B372C5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7039929"/>
            <a:ext cx="7223760" cy="1189670"/>
          </a:xfrm>
          <a:prstGeom prst="rect">
            <a:avLst/>
          </a:prstGeom>
        </p:spPr>
      </p:pic>
      <p:sp>
        <p:nvSpPr>
          <p:cNvPr id="21" name="Arrow: Down 20">
            <a:extLst>
              <a:ext uri="{FF2B5EF4-FFF2-40B4-BE49-F238E27FC236}">
                <a16:creationId xmlns:a16="http://schemas.microsoft.com/office/drawing/2014/main" id="{E2CB12E7-0124-1A32-F83D-0FF4A6552B2D}"/>
              </a:ext>
            </a:extLst>
          </p:cNvPr>
          <p:cNvSpPr/>
          <p:nvPr/>
        </p:nvSpPr>
        <p:spPr>
          <a:xfrm>
            <a:off x="10224655" y="6283511"/>
            <a:ext cx="522514" cy="756418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996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Complete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6191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58937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Major Phases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38413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Cleaning, Analysis, and Retrieval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486191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58937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Core Tasks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38413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duplicates to lookups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486191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100%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58937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Quality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38413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Clean, analyzed, and accessible</a:t>
            </a:r>
            <a:endParaRPr lang="en-US" sz="175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3E19AA-5BED-5DE5-A84C-B391BC9F6543}"/>
              </a:ext>
            </a:extLst>
          </p:cNvPr>
          <p:cNvSpPr/>
          <p:nvPr/>
        </p:nvSpPr>
        <p:spPr>
          <a:xfrm>
            <a:off x="12687300" y="7760970"/>
            <a:ext cx="1851660" cy="3886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9219E0-4C73-5AA0-A5D8-6BF527C3F48D}"/>
              </a:ext>
            </a:extLst>
          </p:cNvPr>
          <p:cNvSpPr txBox="1"/>
          <p:nvPr/>
        </p:nvSpPr>
        <p:spPr>
          <a:xfrm>
            <a:off x="509350" y="6856185"/>
            <a:ext cx="809244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3200" dirty="0"/>
              <a:t>This is my project link</a:t>
            </a:r>
          </a:p>
          <a:p>
            <a:r>
              <a:rPr lang="en-US" dirty="0">
                <a:hlinkClick r:id="rId4" action="ppaction://hlinkfile"/>
              </a:rPr>
              <a:t>https://1drv.ms/x/c/4422143b3a6018de/IQDTx0LUF763Tr6tTitsCAJkAfvzUQwjqQ05wDDa8PvZSS8?e=hI1ecf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988</Words>
  <Application>Microsoft Office PowerPoint</Application>
  <PresentationFormat>Custom</PresentationFormat>
  <Paragraphs>175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Open Sans</vt:lpstr>
      <vt:lpstr>Arial</vt:lpstr>
      <vt:lpstr>Bitter Medium</vt:lpstr>
      <vt:lpstr>Bitter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Divyansh borana</cp:lastModifiedBy>
  <cp:revision>7</cp:revision>
  <dcterms:created xsi:type="dcterms:W3CDTF">2025-12-24T06:42:37Z</dcterms:created>
  <dcterms:modified xsi:type="dcterms:W3CDTF">2025-12-26T10:36:28Z</dcterms:modified>
</cp:coreProperties>
</file>